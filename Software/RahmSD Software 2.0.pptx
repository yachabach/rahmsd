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4" r:id="rId3"/>
    <p:sldId id="275" r:id="rId4"/>
    <p:sldId id="277" r:id="rId5"/>
    <p:sldId id="276" r:id="rId6"/>
    <p:sldId id="279" r:id="rId7"/>
    <p:sldId id="284" r:id="rId8"/>
    <p:sldId id="280" r:id="rId9"/>
    <p:sldId id="282" r:id="rId10"/>
    <p:sldId id="283" r:id="rId11"/>
    <p:sldId id="273" r:id="rId12"/>
  </p:sldIdLst>
  <p:sldSz cx="12192000" cy="6858000"/>
  <p:notesSz cx="6858000" cy="9144000"/>
  <p:embeddedFontLst>
    <p:embeddedFont>
      <p:font typeface="Space Grotesk" panose="020B0604020202020204" charset="0"/>
      <p:regular r:id="rId14"/>
      <p:bold r:id="rId15"/>
    </p:embeddedFont>
    <p:embeddedFont>
      <p:font typeface="Space Grotesk Medium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grG0Bq6tB3ZBQbyaw9OtYXCkf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C66857-862C-4240-8F3E-F7728803C86F}">
  <a:tblStyle styleId="{31C66857-862C-4240-8F3E-F7728803C86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DD4EA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E8EBF5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4472C4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4472C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234FD14-E9EC-422A-AB53-06ACC4C575D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ECA1616-877A-4777-B0BC-39DF7EDE0818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AFAB73-95E1-4967-9682-1B82B9265634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EEB23CF-5B29-466B-960D-1B5A20FC534F}" styleName="Table_4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DD4EA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E8EBF5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28dcdb1b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a28dcdb1bd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2a28dcdb1bd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7195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3C5A714A-A3CB-352C-34CF-FD223CCE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28dcdb1bd_3_0:notes">
            <a:extLst>
              <a:ext uri="{FF2B5EF4-FFF2-40B4-BE49-F238E27FC236}">
                <a16:creationId xmlns:a16="http://schemas.microsoft.com/office/drawing/2014/main" id="{8D606F8C-5322-5102-EF77-9C492DACC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a28dcdb1bd_3_0:notes">
            <a:extLst>
              <a:ext uri="{FF2B5EF4-FFF2-40B4-BE49-F238E27FC236}">
                <a16:creationId xmlns:a16="http://schemas.microsoft.com/office/drawing/2014/main" id="{F5AF9084-FDF7-3AE3-3BDD-3A6C045F07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2a28dcdb1bd_3_0:notes">
            <a:extLst>
              <a:ext uri="{FF2B5EF4-FFF2-40B4-BE49-F238E27FC236}">
                <a16:creationId xmlns:a16="http://schemas.microsoft.com/office/drawing/2014/main" id="{A8A37F69-6797-85EC-6005-6C5CD2E218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262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95F7553-1C35-58BE-F4D6-8D8DC187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28dcdb1bd_3_0:notes">
            <a:extLst>
              <a:ext uri="{FF2B5EF4-FFF2-40B4-BE49-F238E27FC236}">
                <a16:creationId xmlns:a16="http://schemas.microsoft.com/office/drawing/2014/main" id="{D20342E5-677F-5C17-227B-55C4BD150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a28dcdb1bd_3_0:notes">
            <a:extLst>
              <a:ext uri="{FF2B5EF4-FFF2-40B4-BE49-F238E27FC236}">
                <a16:creationId xmlns:a16="http://schemas.microsoft.com/office/drawing/2014/main" id="{5F6B0B5F-EA68-2919-6090-9FFD8F4FA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2a28dcdb1bd_3_0:notes">
            <a:extLst>
              <a:ext uri="{FF2B5EF4-FFF2-40B4-BE49-F238E27FC236}">
                <a16:creationId xmlns:a16="http://schemas.microsoft.com/office/drawing/2014/main" id="{79B63E19-D53F-5188-6DD8-B89AF8C3BD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8897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6AC31803-4F02-BAD2-22E7-2F96BDF91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28dcdb1bd_3_0:notes">
            <a:extLst>
              <a:ext uri="{FF2B5EF4-FFF2-40B4-BE49-F238E27FC236}">
                <a16:creationId xmlns:a16="http://schemas.microsoft.com/office/drawing/2014/main" id="{CB73C5AE-01CA-6229-719D-1B499F5FCA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a28dcdb1bd_3_0:notes">
            <a:extLst>
              <a:ext uri="{FF2B5EF4-FFF2-40B4-BE49-F238E27FC236}">
                <a16:creationId xmlns:a16="http://schemas.microsoft.com/office/drawing/2014/main" id="{F653DB3C-379D-7A11-0DA7-53FC19B22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2a28dcdb1bd_3_0:notes">
            <a:extLst>
              <a:ext uri="{FF2B5EF4-FFF2-40B4-BE49-F238E27FC236}">
                <a16:creationId xmlns:a16="http://schemas.microsoft.com/office/drawing/2014/main" id="{4F2F6FFB-19BC-F187-C9A0-92399AD06A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8047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FB5A4E53-8FB2-BB33-C83A-F2C1D4EB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28dcdb1bd_3_0:notes">
            <a:extLst>
              <a:ext uri="{FF2B5EF4-FFF2-40B4-BE49-F238E27FC236}">
                <a16:creationId xmlns:a16="http://schemas.microsoft.com/office/drawing/2014/main" id="{04D4ED93-7FFB-28BD-AF07-48EA7E2E2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a28dcdb1bd_3_0:notes">
            <a:extLst>
              <a:ext uri="{FF2B5EF4-FFF2-40B4-BE49-F238E27FC236}">
                <a16:creationId xmlns:a16="http://schemas.microsoft.com/office/drawing/2014/main" id="{D9A365C8-CE87-5517-2C08-313AD70CA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2a28dcdb1bd_3_0:notes">
            <a:extLst>
              <a:ext uri="{FF2B5EF4-FFF2-40B4-BE49-F238E27FC236}">
                <a16:creationId xmlns:a16="http://schemas.microsoft.com/office/drawing/2014/main" id="{977C8F81-85FE-93C9-CAFB-0BAB80C352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5836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5DAE1938-4F7B-7CCD-93CA-96B2F866A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28dcdb1bd_3_0:notes">
            <a:extLst>
              <a:ext uri="{FF2B5EF4-FFF2-40B4-BE49-F238E27FC236}">
                <a16:creationId xmlns:a16="http://schemas.microsoft.com/office/drawing/2014/main" id="{18F3B0B2-A890-1395-2E80-EA0286E6A7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a28dcdb1bd_3_0:notes">
            <a:extLst>
              <a:ext uri="{FF2B5EF4-FFF2-40B4-BE49-F238E27FC236}">
                <a16:creationId xmlns:a16="http://schemas.microsoft.com/office/drawing/2014/main" id="{8B8B29B4-0AA9-DDD8-1F00-4205F51ED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2a28dcdb1bd_3_0:notes">
            <a:extLst>
              <a:ext uri="{FF2B5EF4-FFF2-40B4-BE49-F238E27FC236}">
                <a16:creationId xmlns:a16="http://schemas.microsoft.com/office/drawing/2014/main" id="{2A108DF2-C46C-CABE-060E-603D679F3B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4462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061EE5C7-2B3C-0186-7235-B8807763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28dcdb1bd_3_0:notes">
            <a:extLst>
              <a:ext uri="{FF2B5EF4-FFF2-40B4-BE49-F238E27FC236}">
                <a16:creationId xmlns:a16="http://schemas.microsoft.com/office/drawing/2014/main" id="{3BF65803-D183-5955-0B40-1BE3FD67D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a28dcdb1bd_3_0:notes">
            <a:extLst>
              <a:ext uri="{FF2B5EF4-FFF2-40B4-BE49-F238E27FC236}">
                <a16:creationId xmlns:a16="http://schemas.microsoft.com/office/drawing/2014/main" id="{93C10985-D18C-3050-AC91-C394BD6D0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2a28dcdb1bd_3_0:notes">
            <a:extLst>
              <a:ext uri="{FF2B5EF4-FFF2-40B4-BE49-F238E27FC236}">
                <a16:creationId xmlns:a16="http://schemas.microsoft.com/office/drawing/2014/main" id="{EE6431D4-C337-48BE-DE92-201312D19D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5016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FA559882-D410-6504-0C77-20C5ADDC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28dcdb1bd_3_0:notes">
            <a:extLst>
              <a:ext uri="{FF2B5EF4-FFF2-40B4-BE49-F238E27FC236}">
                <a16:creationId xmlns:a16="http://schemas.microsoft.com/office/drawing/2014/main" id="{9DBF678C-848D-E8B6-85FF-425A14D05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a28dcdb1bd_3_0:notes">
            <a:extLst>
              <a:ext uri="{FF2B5EF4-FFF2-40B4-BE49-F238E27FC236}">
                <a16:creationId xmlns:a16="http://schemas.microsoft.com/office/drawing/2014/main" id="{414850CA-0D6C-DD36-8D60-769CB5710F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2a28dcdb1bd_3_0:notes">
            <a:extLst>
              <a:ext uri="{FF2B5EF4-FFF2-40B4-BE49-F238E27FC236}">
                <a16:creationId xmlns:a16="http://schemas.microsoft.com/office/drawing/2014/main" id="{1BE49246-D656-C622-462A-526A204BC4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1297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7CE8B15-AC5A-0A7E-F43C-EC571789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28dcdb1bd_3_0:notes">
            <a:extLst>
              <a:ext uri="{FF2B5EF4-FFF2-40B4-BE49-F238E27FC236}">
                <a16:creationId xmlns:a16="http://schemas.microsoft.com/office/drawing/2014/main" id="{2DDF00CC-E6C1-051B-86DC-A0EBFD08D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a28dcdb1bd_3_0:notes">
            <a:extLst>
              <a:ext uri="{FF2B5EF4-FFF2-40B4-BE49-F238E27FC236}">
                <a16:creationId xmlns:a16="http://schemas.microsoft.com/office/drawing/2014/main" id="{37D8F992-B5F2-7BE0-D619-A71FE3499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2a28dcdb1bd_3_0:notes">
            <a:extLst>
              <a:ext uri="{FF2B5EF4-FFF2-40B4-BE49-F238E27FC236}">
                <a16:creationId xmlns:a16="http://schemas.microsoft.com/office/drawing/2014/main" id="{E1687B00-8BD5-1368-B021-72EB116A92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8554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ec7e4fef64_5_1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409" name="Google Shape;409;g1ec7e4fef64_5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001050" y="4667050"/>
            <a:ext cx="2190950" cy="21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7" name="Google Shape;17;p16"/>
          <p:cNvSpPr txBox="1"/>
          <p:nvPr/>
        </p:nvSpPr>
        <p:spPr>
          <a:xfrm>
            <a:off x="11168475" y="6410875"/>
            <a:ext cx="94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3082" lvl="0" indent="334645" algn="ctr" rtl="0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pace Grotesk"/>
              <a:buNone/>
            </a:pPr>
            <a:fld id="{00000000-1234-1234-1234-123412341234}" type="slidenum">
              <a:rPr lang="en-US" sz="1600" i="0" u="none" strike="noStrike" cap="none">
                <a:solidFill>
                  <a:srgbClr val="BDBDBD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r>
              <a:rPr lang="en-US" sz="1600" i="0" u="none" strike="noStrike" cap="none">
                <a:solidFill>
                  <a:srgbClr val="BDBDBD"/>
                </a:solidFill>
                <a:latin typeface="Space Grotesk"/>
                <a:ea typeface="Space Grotesk"/>
                <a:cs typeface="Space Grotesk"/>
                <a:sym typeface="Space Grotesk"/>
              </a:rPr>
              <a:t>/</a:t>
            </a:r>
            <a:r>
              <a:rPr lang="en-US" sz="1600">
                <a:solidFill>
                  <a:srgbClr val="BDBDBD"/>
                </a:solidFill>
                <a:latin typeface="Space Grotesk"/>
                <a:ea typeface="Space Grotesk"/>
                <a:cs typeface="Space Grotesk"/>
                <a:sym typeface="Space Grotesk"/>
              </a:rPr>
              <a:t>21</a:t>
            </a:r>
            <a:endParaRPr sz="1600" i="0" u="none" strike="noStrike" cap="none">
              <a:solidFill>
                <a:srgbClr val="BDBDB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8" name="Google Shape;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6111150"/>
            <a:ext cx="1521674" cy="5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0">
  <p:cSld name="Title and Content 0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a2b0dd03df_0_524"/>
          <p:cNvSpPr txBox="1">
            <a:spLocks noGrp="1"/>
          </p:cNvSpPr>
          <p:nvPr>
            <p:ph type="title"/>
          </p:nvPr>
        </p:nvSpPr>
        <p:spPr>
          <a:xfrm>
            <a:off x="419906" y="284352"/>
            <a:ext cx="10846800" cy="1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  <a:defRPr sz="2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2a2b0dd03df_0_524"/>
          <p:cNvSpPr txBox="1">
            <a:spLocks noGrp="1"/>
          </p:cNvSpPr>
          <p:nvPr>
            <p:ph type="body" idx="1"/>
          </p:nvPr>
        </p:nvSpPr>
        <p:spPr>
          <a:xfrm>
            <a:off x="521336" y="2158326"/>
            <a:ext cx="11167200" cy="3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g2a2b0dd03df_0_524"/>
          <p:cNvSpPr txBox="1">
            <a:spLocks noGrp="1"/>
          </p:cNvSpPr>
          <p:nvPr>
            <p:ph type="sldNum" idx="12"/>
          </p:nvPr>
        </p:nvSpPr>
        <p:spPr>
          <a:xfrm>
            <a:off x="11581923" y="6206420"/>
            <a:ext cx="63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3082" lvl="0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3082" lvl="1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3082" lvl="2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3082" lvl="3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3082" lvl="4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3082" lvl="5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3082" lvl="6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3082" lvl="7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3082" lvl="8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334645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 1">
  <p:cSld name="TITLE_AND_BODY_2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a28dcdb1bd_3_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8" name="Google Shape;28;g2a28dcdb1bd_3_86"/>
          <p:cNvSpPr txBox="1">
            <a:spLocks noGrp="1"/>
          </p:cNvSpPr>
          <p:nvPr>
            <p:ph type="body" idx="1"/>
          </p:nvPr>
        </p:nvSpPr>
        <p:spPr>
          <a:xfrm>
            <a:off x="603250" y="1186481"/>
            <a:ext cx="1098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Space Grotesk"/>
              <a:buNone/>
              <a:defRPr sz="275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9" name="Google Shape;29;g2a28dcdb1bd_3_86"/>
          <p:cNvSpPr txBox="1">
            <a:spLocks noGrp="1"/>
          </p:cNvSpPr>
          <p:nvPr>
            <p:ph type="body" idx="2"/>
          </p:nvPr>
        </p:nvSpPr>
        <p:spPr>
          <a:xfrm>
            <a:off x="512750" y="2080970"/>
            <a:ext cx="111711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0" name="Google Shape;30;g2a28dcdb1bd_3_86"/>
          <p:cNvSpPr txBox="1">
            <a:spLocks noGrp="1"/>
          </p:cNvSpPr>
          <p:nvPr>
            <p:ph type="sldNum" idx="12"/>
          </p:nvPr>
        </p:nvSpPr>
        <p:spPr>
          <a:xfrm>
            <a:off x="11429968" y="6242066"/>
            <a:ext cx="4521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_AND_BOD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a28dcdb1bd_0_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3" name="Google Shape;33;g2a28dcdb1bd_0_91"/>
          <p:cNvSpPr txBox="1">
            <a:spLocks noGrp="1"/>
          </p:cNvSpPr>
          <p:nvPr>
            <p:ph type="body" idx="1"/>
          </p:nvPr>
        </p:nvSpPr>
        <p:spPr>
          <a:xfrm>
            <a:off x="603250" y="1186481"/>
            <a:ext cx="1098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Space Grotesk"/>
              <a:buNone/>
              <a:defRPr sz="275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4" name="Google Shape;34;g2a28dcdb1bd_0_91"/>
          <p:cNvSpPr txBox="1">
            <a:spLocks noGrp="1"/>
          </p:cNvSpPr>
          <p:nvPr>
            <p:ph type="body" idx="2"/>
          </p:nvPr>
        </p:nvSpPr>
        <p:spPr>
          <a:xfrm>
            <a:off x="512750" y="2080970"/>
            <a:ext cx="111711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•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5" name="Google Shape;35;g2a28dcdb1bd_0_91"/>
          <p:cNvSpPr txBox="1">
            <a:spLocks noGrp="1"/>
          </p:cNvSpPr>
          <p:nvPr>
            <p:ph type="sldNum" idx="12"/>
          </p:nvPr>
        </p:nvSpPr>
        <p:spPr>
          <a:xfrm>
            <a:off x="11429968" y="6242066"/>
            <a:ext cx="4521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3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1">
  <p:cSld name="Two Content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ec7e4fef64_5_130"/>
          <p:cNvSpPr txBox="1">
            <a:spLocks noGrp="1"/>
          </p:cNvSpPr>
          <p:nvPr>
            <p:ph type="body" idx="1"/>
          </p:nvPr>
        </p:nvSpPr>
        <p:spPr>
          <a:xfrm>
            <a:off x="609600" y="1579135"/>
            <a:ext cx="5303400" cy="4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3" name="Google Shape;63;g1ec7e4fef64_5_130" descr="Google Shape;5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68500" y="2120577"/>
            <a:ext cx="2698373" cy="338166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1ec7e4fef64_5_130"/>
          <p:cNvSpPr/>
          <p:nvPr/>
        </p:nvSpPr>
        <p:spPr>
          <a:xfrm>
            <a:off x="1268501" y="2120577"/>
            <a:ext cx="26985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1ec7e4fef64_5_130"/>
          <p:cNvSpPr/>
          <p:nvPr/>
        </p:nvSpPr>
        <p:spPr>
          <a:xfrm>
            <a:off x="3966865" y="2120577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1ec7e4fef64_5_130"/>
          <p:cNvSpPr/>
          <p:nvPr/>
        </p:nvSpPr>
        <p:spPr>
          <a:xfrm>
            <a:off x="3966865" y="2120577"/>
            <a:ext cx="32859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1ec7e4fef64_5_130"/>
          <p:cNvSpPr/>
          <p:nvPr/>
        </p:nvSpPr>
        <p:spPr>
          <a:xfrm>
            <a:off x="3966870" y="1496986"/>
            <a:ext cx="3482784" cy="6235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0"/>
                </a:moveTo>
                <a:lnTo>
                  <a:pt x="1222" y="0"/>
                </a:lnTo>
                <a:lnTo>
                  <a:pt x="0" y="21600"/>
                </a:lnTo>
                <a:lnTo>
                  <a:pt x="20378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1ec7e4fef64_5_130"/>
          <p:cNvSpPr/>
          <p:nvPr/>
        </p:nvSpPr>
        <p:spPr>
          <a:xfrm>
            <a:off x="3966870" y="1496986"/>
            <a:ext cx="3482784" cy="6235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22" y="0"/>
                </a:moveTo>
                <a:lnTo>
                  <a:pt x="21600" y="0"/>
                </a:lnTo>
                <a:lnTo>
                  <a:pt x="20378" y="21600"/>
                </a:lnTo>
                <a:lnTo>
                  <a:pt x="0" y="21600"/>
                </a:lnTo>
                <a:lnTo>
                  <a:pt x="1222" y="0"/>
                </a:lnTo>
                <a:close/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1ec7e4fef64_5_130"/>
          <p:cNvSpPr/>
          <p:nvPr/>
        </p:nvSpPr>
        <p:spPr>
          <a:xfrm>
            <a:off x="7252677" y="2120577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1ec7e4fef64_5_130"/>
          <p:cNvSpPr/>
          <p:nvPr/>
        </p:nvSpPr>
        <p:spPr>
          <a:xfrm>
            <a:off x="7252677" y="2120577"/>
            <a:ext cx="32859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1ec7e4fef64_5_130"/>
          <p:cNvSpPr/>
          <p:nvPr/>
        </p:nvSpPr>
        <p:spPr>
          <a:xfrm>
            <a:off x="7252673" y="1496986"/>
            <a:ext cx="3482784" cy="6235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0"/>
                </a:moveTo>
                <a:lnTo>
                  <a:pt x="1222" y="0"/>
                </a:lnTo>
                <a:lnTo>
                  <a:pt x="0" y="21600"/>
                </a:lnTo>
                <a:lnTo>
                  <a:pt x="20378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1ec7e4fef64_5_130"/>
          <p:cNvSpPr/>
          <p:nvPr/>
        </p:nvSpPr>
        <p:spPr>
          <a:xfrm>
            <a:off x="7252673" y="1496986"/>
            <a:ext cx="3482784" cy="6235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22" y="0"/>
                </a:moveTo>
                <a:lnTo>
                  <a:pt x="21600" y="0"/>
                </a:lnTo>
                <a:lnTo>
                  <a:pt x="20378" y="21600"/>
                </a:lnTo>
                <a:lnTo>
                  <a:pt x="0" y="21600"/>
                </a:lnTo>
                <a:lnTo>
                  <a:pt x="1222" y="0"/>
                </a:lnTo>
                <a:close/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1ec7e4fef64_5_130"/>
          <p:cNvSpPr/>
          <p:nvPr/>
        </p:nvSpPr>
        <p:spPr>
          <a:xfrm>
            <a:off x="1268501" y="2603678"/>
            <a:ext cx="26985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1ec7e4fef64_5_130"/>
          <p:cNvSpPr/>
          <p:nvPr/>
        </p:nvSpPr>
        <p:spPr>
          <a:xfrm>
            <a:off x="3966865" y="2603678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1ec7e4fef64_5_130"/>
          <p:cNvSpPr/>
          <p:nvPr/>
        </p:nvSpPr>
        <p:spPr>
          <a:xfrm>
            <a:off x="3966865" y="2603678"/>
            <a:ext cx="32859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1ec7e4fef64_5_130"/>
          <p:cNvSpPr/>
          <p:nvPr/>
        </p:nvSpPr>
        <p:spPr>
          <a:xfrm>
            <a:off x="7252677" y="2603678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77;g1ec7e4fef64_5_130"/>
          <p:cNvGrpSpPr/>
          <p:nvPr/>
        </p:nvGrpSpPr>
        <p:grpSpPr>
          <a:xfrm>
            <a:off x="1268501" y="2603678"/>
            <a:ext cx="9270076" cy="966092"/>
            <a:chOff x="0" y="0"/>
            <a:chExt cx="9270076" cy="966092"/>
          </a:xfrm>
        </p:grpSpPr>
        <p:sp>
          <p:nvSpPr>
            <p:cNvPr id="78" name="Google Shape;78;g1ec7e4fef64_5_130"/>
            <p:cNvSpPr/>
            <p:nvPr/>
          </p:nvSpPr>
          <p:spPr>
            <a:xfrm>
              <a:off x="5984176" y="0"/>
              <a:ext cx="32859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1ec7e4fef64_5_130"/>
            <p:cNvSpPr/>
            <p:nvPr/>
          </p:nvSpPr>
          <p:spPr>
            <a:xfrm>
              <a:off x="0" y="483092"/>
              <a:ext cx="26985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g1ec7e4fef64_5_130"/>
          <p:cNvSpPr/>
          <p:nvPr/>
        </p:nvSpPr>
        <p:spPr>
          <a:xfrm>
            <a:off x="3966865" y="3086771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1ec7e4fef64_5_130"/>
          <p:cNvSpPr/>
          <p:nvPr/>
        </p:nvSpPr>
        <p:spPr>
          <a:xfrm>
            <a:off x="3966865" y="3086771"/>
            <a:ext cx="32859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1ec7e4fef64_5_130"/>
          <p:cNvSpPr/>
          <p:nvPr/>
        </p:nvSpPr>
        <p:spPr>
          <a:xfrm>
            <a:off x="7252677" y="3086771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g1ec7e4fef64_5_130"/>
          <p:cNvGrpSpPr/>
          <p:nvPr/>
        </p:nvGrpSpPr>
        <p:grpSpPr>
          <a:xfrm>
            <a:off x="1268501" y="3086771"/>
            <a:ext cx="9270076" cy="966092"/>
            <a:chOff x="0" y="0"/>
            <a:chExt cx="9270076" cy="966092"/>
          </a:xfrm>
        </p:grpSpPr>
        <p:sp>
          <p:nvSpPr>
            <p:cNvPr id="84" name="Google Shape;84;g1ec7e4fef64_5_130"/>
            <p:cNvSpPr/>
            <p:nvPr/>
          </p:nvSpPr>
          <p:spPr>
            <a:xfrm>
              <a:off x="5984176" y="0"/>
              <a:ext cx="32859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1ec7e4fef64_5_130"/>
            <p:cNvSpPr/>
            <p:nvPr/>
          </p:nvSpPr>
          <p:spPr>
            <a:xfrm>
              <a:off x="0" y="483092"/>
              <a:ext cx="26985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1ec7e4fef64_5_130"/>
          <p:cNvSpPr/>
          <p:nvPr/>
        </p:nvSpPr>
        <p:spPr>
          <a:xfrm>
            <a:off x="3966865" y="3569863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1ec7e4fef64_5_130"/>
          <p:cNvSpPr/>
          <p:nvPr/>
        </p:nvSpPr>
        <p:spPr>
          <a:xfrm>
            <a:off x="3966865" y="3569863"/>
            <a:ext cx="32859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1ec7e4fef64_5_130"/>
          <p:cNvSpPr/>
          <p:nvPr/>
        </p:nvSpPr>
        <p:spPr>
          <a:xfrm>
            <a:off x="7252677" y="3569863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g1ec7e4fef64_5_130"/>
          <p:cNvGrpSpPr/>
          <p:nvPr/>
        </p:nvGrpSpPr>
        <p:grpSpPr>
          <a:xfrm>
            <a:off x="1268501" y="3569863"/>
            <a:ext cx="9270076" cy="966092"/>
            <a:chOff x="0" y="0"/>
            <a:chExt cx="9270076" cy="966092"/>
          </a:xfrm>
        </p:grpSpPr>
        <p:sp>
          <p:nvSpPr>
            <p:cNvPr id="90" name="Google Shape;90;g1ec7e4fef64_5_130"/>
            <p:cNvSpPr/>
            <p:nvPr/>
          </p:nvSpPr>
          <p:spPr>
            <a:xfrm>
              <a:off x="5984176" y="0"/>
              <a:ext cx="32859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1ec7e4fef64_5_130"/>
            <p:cNvSpPr/>
            <p:nvPr/>
          </p:nvSpPr>
          <p:spPr>
            <a:xfrm>
              <a:off x="0" y="483092"/>
              <a:ext cx="26985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g1ec7e4fef64_5_130"/>
          <p:cNvSpPr/>
          <p:nvPr/>
        </p:nvSpPr>
        <p:spPr>
          <a:xfrm>
            <a:off x="3966865" y="4052956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1ec7e4fef64_5_130"/>
          <p:cNvSpPr/>
          <p:nvPr/>
        </p:nvSpPr>
        <p:spPr>
          <a:xfrm>
            <a:off x="3966865" y="4052956"/>
            <a:ext cx="32859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1ec7e4fef64_5_130"/>
          <p:cNvSpPr/>
          <p:nvPr/>
        </p:nvSpPr>
        <p:spPr>
          <a:xfrm>
            <a:off x="7252677" y="4052956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g1ec7e4fef64_5_130"/>
          <p:cNvGrpSpPr/>
          <p:nvPr/>
        </p:nvGrpSpPr>
        <p:grpSpPr>
          <a:xfrm>
            <a:off x="1268501" y="4052956"/>
            <a:ext cx="9270076" cy="966092"/>
            <a:chOff x="0" y="0"/>
            <a:chExt cx="9270076" cy="966092"/>
          </a:xfrm>
        </p:grpSpPr>
        <p:sp>
          <p:nvSpPr>
            <p:cNvPr id="96" name="Google Shape;96;g1ec7e4fef64_5_130"/>
            <p:cNvSpPr/>
            <p:nvPr/>
          </p:nvSpPr>
          <p:spPr>
            <a:xfrm>
              <a:off x="5984176" y="0"/>
              <a:ext cx="32859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1ec7e4fef64_5_130"/>
            <p:cNvSpPr/>
            <p:nvPr/>
          </p:nvSpPr>
          <p:spPr>
            <a:xfrm>
              <a:off x="0" y="483092"/>
              <a:ext cx="26985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g1ec7e4fef64_5_130"/>
          <p:cNvSpPr/>
          <p:nvPr/>
        </p:nvSpPr>
        <p:spPr>
          <a:xfrm>
            <a:off x="3966865" y="4536049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1ec7e4fef64_5_130"/>
          <p:cNvSpPr/>
          <p:nvPr/>
        </p:nvSpPr>
        <p:spPr>
          <a:xfrm>
            <a:off x="3966865" y="4536049"/>
            <a:ext cx="32859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1ec7e4fef64_5_130"/>
          <p:cNvSpPr/>
          <p:nvPr/>
        </p:nvSpPr>
        <p:spPr>
          <a:xfrm>
            <a:off x="7252677" y="4536049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g1ec7e4fef64_5_130"/>
          <p:cNvGrpSpPr/>
          <p:nvPr/>
        </p:nvGrpSpPr>
        <p:grpSpPr>
          <a:xfrm>
            <a:off x="1268501" y="4536049"/>
            <a:ext cx="9270076" cy="966100"/>
            <a:chOff x="0" y="0"/>
            <a:chExt cx="9270076" cy="966100"/>
          </a:xfrm>
        </p:grpSpPr>
        <p:sp>
          <p:nvSpPr>
            <p:cNvPr id="102" name="Google Shape;102;g1ec7e4fef64_5_130"/>
            <p:cNvSpPr/>
            <p:nvPr/>
          </p:nvSpPr>
          <p:spPr>
            <a:xfrm>
              <a:off x="5984176" y="0"/>
              <a:ext cx="32859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1ec7e4fef64_5_130"/>
            <p:cNvSpPr/>
            <p:nvPr/>
          </p:nvSpPr>
          <p:spPr>
            <a:xfrm>
              <a:off x="0" y="483100"/>
              <a:ext cx="2698500" cy="4830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725" tIns="27725" rIns="27725" bIns="277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g1ec7e4fef64_5_130"/>
          <p:cNvSpPr/>
          <p:nvPr/>
        </p:nvSpPr>
        <p:spPr>
          <a:xfrm>
            <a:off x="3966865" y="5019149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1ec7e4fef64_5_130"/>
          <p:cNvSpPr/>
          <p:nvPr/>
        </p:nvSpPr>
        <p:spPr>
          <a:xfrm>
            <a:off x="3966865" y="5019149"/>
            <a:ext cx="32859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ec7e4fef64_5_130"/>
          <p:cNvSpPr/>
          <p:nvPr/>
        </p:nvSpPr>
        <p:spPr>
          <a:xfrm>
            <a:off x="7252677" y="5019149"/>
            <a:ext cx="3285900" cy="483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ec7e4fef64_5_130"/>
          <p:cNvSpPr/>
          <p:nvPr/>
        </p:nvSpPr>
        <p:spPr>
          <a:xfrm>
            <a:off x="7252677" y="5019149"/>
            <a:ext cx="3285900" cy="483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1ec7e4fef64_5_130"/>
          <p:cNvSpPr txBox="1">
            <a:spLocks noGrp="1"/>
          </p:cNvSpPr>
          <p:nvPr>
            <p:ph type="title"/>
          </p:nvPr>
        </p:nvSpPr>
        <p:spPr>
          <a:xfrm>
            <a:off x="419906" y="284352"/>
            <a:ext cx="10846800" cy="1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  <a:defRPr sz="2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1ec7e4fef64_5_130"/>
          <p:cNvSpPr txBox="1">
            <a:spLocks noGrp="1"/>
          </p:cNvSpPr>
          <p:nvPr>
            <p:ph type="body" idx="2"/>
          </p:nvPr>
        </p:nvSpPr>
        <p:spPr>
          <a:xfrm>
            <a:off x="6278879" y="1579135"/>
            <a:ext cx="5303400" cy="4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g1ec7e4fef64_5_130"/>
          <p:cNvSpPr txBox="1">
            <a:spLocks noGrp="1"/>
          </p:cNvSpPr>
          <p:nvPr>
            <p:ph type="sldNum" idx="12"/>
          </p:nvPr>
        </p:nvSpPr>
        <p:spPr>
          <a:xfrm>
            <a:off x="11581923" y="6206420"/>
            <a:ext cx="63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3082" lvl="0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3082" lvl="1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3082" lvl="2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3082" lvl="3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3082" lvl="4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3082" lvl="5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3082" lvl="6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3082" lvl="7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3082" lvl="8" indent="334645" algn="l">
              <a:lnSpc>
                <a:spcPct val="1194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pace Grotesk"/>
              <a:buNone/>
              <a:defRPr sz="2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334645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pace Grotesk"/>
              <a:buNone/>
              <a:defRPr sz="44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pace Grotesk"/>
              <a:buNone/>
              <a:defRPr sz="44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pace Grotesk"/>
              <a:buNone/>
              <a:defRPr sz="44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pace Grotesk"/>
              <a:buNone/>
              <a:defRPr sz="44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pace Grotesk"/>
              <a:buNone/>
              <a:defRPr sz="44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pace Grotesk"/>
              <a:buNone/>
              <a:defRPr sz="44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pace Grotesk"/>
              <a:buNone/>
              <a:defRPr sz="44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pace Grotesk"/>
              <a:buNone/>
              <a:defRPr sz="44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pace Grotesk"/>
              <a:buNone/>
              <a:defRPr sz="44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vik.Ramprakash@rahmsd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mailto:vik.ramprakash@rahmsd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 descr="pasted-movie.png"/>
          <p:cNvPicPr preferRelativeResize="0"/>
          <p:nvPr/>
        </p:nvPicPr>
        <p:blipFill rotWithShape="1">
          <a:blip r:embed="rId3">
            <a:alphaModFix amt="15069"/>
          </a:blip>
          <a:srcRect/>
          <a:stretch/>
        </p:blipFill>
        <p:spPr>
          <a:xfrm>
            <a:off x="-1617395" y="-90885"/>
            <a:ext cx="15426790" cy="7014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"/>
          <p:cNvSpPr txBox="1"/>
          <p:nvPr/>
        </p:nvSpPr>
        <p:spPr>
          <a:xfrm>
            <a:off x="2871537" y="3198446"/>
            <a:ext cx="6669505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r>
              <a:rPr lang="en-US" sz="3600" dirty="0"/>
              <a:t>Software 2.0 Team Kickoff Deck</a:t>
            </a:r>
          </a:p>
        </p:txBody>
      </p:sp>
      <p:sp>
        <p:nvSpPr>
          <p:cNvPr id="117" name="Google Shape;117;p1"/>
          <p:cNvSpPr txBox="1"/>
          <p:nvPr/>
        </p:nvSpPr>
        <p:spPr>
          <a:xfrm>
            <a:off x="3104400" y="5593000"/>
            <a:ext cx="5983200" cy="40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dirty="0">
                <a:latin typeface="Space Grotesk"/>
                <a:ea typeface="Space Grotesk"/>
                <a:cs typeface="Space Grotesk"/>
                <a:sym typeface="Space Grotesk"/>
              </a:rPr>
              <a:t>Presented by Vik Ramprakash</a:t>
            </a:r>
            <a:endParaRPr sz="1600" dirty="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0925" y="1060000"/>
            <a:ext cx="5290148" cy="182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8dcdb1bd_3_0"/>
          <p:cNvSpPr txBox="1">
            <a:spLocks noGrp="1"/>
          </p:cNvSpPr>
          <p:nvPr>
            <p:ph type="title"/>
          </p:nvPr>
        </p:nvSpPr>
        <p:spPr>
          <a:xfrm>
            <a:off x="627875" y="29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3960"/>
            </a:pPr>
            <a:r>
              <a:rPr lang="en-US" sz="2800" dirty="0"/>
              <a:t>Meeting Overview</a:t>
            </a:r>
            <a:endParaRPr sz="2800" dirty="0"/>
          </a:p>
        </p:txBody>
      </p:sp>
      <p:sp>
        <p:nvSpPr>
          <p:cNvPr id="126" name="Google Shape;126;g2a28dcdb1bd_3_0"/>
          <p:cNvSpPr txBox="1"/>
          <p:nvPr/>
        </p:nvSpPr>
        <p:spPr>
          <a:xfrm>
            <a:off x="627875" y="1622600"/>
            <a:ext cx="10820414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/>
              <a:t>Purpose: Software and team alignment for Cell and Silver Guardian 2.0, Jetson integration</a:t>
            </a:r>
          </a:p>
          <a:p>
            <a:endParaRPr lang="en-US" sz="2400" dirty="0"/>
          </a:p>
          <a:p>
            <a:r>
              <a:rPr lang="en-US" sz="2400" dirty="0"/>
              <a:t>Attendees: Vik Ramprakash, Dave, Deva, Varun</a:t>
            </a:r>
          </a:p>
          <a:p>
            <a:r>
              <a:rPr lang="en-US" sz="2400" dirty="0"/>
              <a:t>Date: October 24, 2025</a:t>
            </a:r>
            <a:endParaRPr sz="2400" i="0" u="none" strike="noStrike" cap="none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4" name="Google Shape;134;g2a28dcdb1bd_3_0"/>
          <p:cNvSpPr/>
          <p:nvPr/>
        </p:nvSpPr>
        <p:spPr>
          <a:xfrm>
            <a:off x="-1180200" y="600149"/>
            <a:ext cx="1736700" cy="6723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305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4783F42D-187D-04DB-F2C0-DEAD2340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8dcdb1bd_3_0">
            <a:extLst>
              <a:ext uri="{FF2B5EF4-FFF2-40B4-BE49-F238E27FC236}">
                <a16:creationId xmlns:a16="http://schemas.microsoft.com/office/drawing/2014/main" id="{FE7A604D-7AAF-686F-1642-11796C0CF8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875" y="29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3960"/>
            </a:pPr>
            <a:r>
              <a:rPr lang="en-US" sz="2800" dirty="0"/>
              <a:t>Hardware goals</a:t>
            </a:r>
            <a:endParaRPr sz="2800" dirty="0"/>
          </a:p>
        </p:txBody>
      </p:sp>
      <p:sp>
        <p:nvSpPr>
          <p:cNvPr id="126" name="Google Shape;126;g2a28dcdb1bd_3_0">
            <a:extLst>
              <a:ext uri="{FF2B5EF4-FFF2-40B4-BE49-F238E27FC236}">
                <a16:creationId xmlns:a16="http://schemas.microsoft.com/office/drawing/2014/main" id="{0BBA5B9E-C6CA-8486-1CED-1F8FB9278701}"/>
              </a:ext>
            </a:extLst>
          </p:cNvPr>
          <p:cNvSpPr txBox="1"/>
          <p:nvPr/>
        </p:nvSpPr>
        <p:spPr>
          <a:xfrm>
            <a:off x="865618" y="1732809"/>
            <a:ext cx="9842006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Transitioning from CM4 to Jetson for AI-driven behavior and vital-sign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Shrinking the carrier board for Silver Guardian 2.0.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Reviewed Cell, Silver, and Neo Guardians.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Ongoing R&amp;E testing for product 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</a:rPr>
              <a:t>Dustin and Antonio joining on Nov 1</a:t>
            </a:r>
            <a:endParaRPr sz="2400" i="0" u="none" strike="noStrike" cap="none" dirty="0">
              <a:solidFill>
                <a:schemeClr val="dk1"/>
              </a:solidFill>
              <a:highlight>
                <a:srgbClr val="FFFF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4" name="Google Shape;134;g2a28dcdb1bd_3_0">
            <a:extLst>
              <a:ext uri="{FF2B5EF4-FFF2-40B4-BE49-F238E27FC236}">
                <a16:creationId xmlns:a16="http://schemas.microsoft.com/office/drawing/2014/main" id="{D093478E-3613-041A-9839-5A10AC7E2942}"/>
              </a:ext>
            </a:extLst>
          </p:cNvPr>
          <p:cNvSpPr/>
          <p:nvPr/>
        </p:nvSpPr>
        <p:spPr>
          <a:xfrm>
            <a:off x="-1180200" y="600149"/>
            <a:ext cx="1736700" cy="6723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60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5230EACD-D703-4A0D-321D-F5F36E3B0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8dcdb1bd_3_0">
            <a:extLst>
              <a:ext uri="{FF2B5EF4-FFF2-40B4-BE49-F238E27FC236}">
                <a16:creationId xmlns:a16="http://schemas.microsoft.com/office/drawing/2014/main" id="{35D8A676-18B9-7B66-6228-09B4E6E3D6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875" y="29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3960"/>
            </a:pPr>
            <a:r>
              <a:rPr lang="en-US" sz="2800" dirty="0"/>
              <a:t>Carrier Board Design Team</a:t>
            </a:r>
            <a:endParaRPr sz="2800" dirty="0"/>
          </a:p>
        </p:txBody>
      </p:sp>
      <p:sp>
        <p:nvSpPr>
          <p:cNvPr id="126" name="Google Shape;126;g2a28dcdb1bd_3_0">
            <a:extLst>
              <a:ext uri="{FF2B5EF4-FFF2-40B4-BE49-F238E27FC236}">
                <a16:creationId xmlns:a16="http://schemas.microsoft.com/office/drawing/2014/main" id="{68B7E2C5-EAD6-A629-E6EE-1AB2F64121C6}"/>
              </a:ext>
            </a:extLst>
          </p:cNvPr>
          <p:cNvSpPr txBox="1"/>
          <p:nvPr/>
        </p:nvSpPr>
        <p:spPr>
          <a:xfrm>
            <a:off x="856474" y="2043705"/>
            <a:ext cx="9310209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/>
              <a:t>Antonio: Original board designer; leading redesign.</a:t>
            </a:r>
          </a:p>
          <a:p>
            <a:r>
              <a:rPr lang="en-US" sz="2400" dirty="0"/>
              <a:t>Dustin: RF/systems engineer</a:t>
            </a:r>
          </a:p>
          <a:p>
            <a:r>
              <a:rPr lang="en-US" sz="2400" dirty="0"/>
              <a:t>Board Variants: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Cell Guardian – Production (PoE + CAT6)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Silver Guardian 1.0 – Retail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Silver Guardian 2.0 – Jetson-based 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Neo Guardian – Future NICU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Dental</a:t>
            </a:r>
          </a:p>
        </p:txBody>
      </p:sp>
      <p:sp>
        <p:nvSpPr>
          <p:cNvPr id="134" name="Google Shape;134;g2a28dcdb1bd_3_0">
            <a:extLst>
              <a:ext uri="{FF2B5EF4-FFF2-40B4-BE49-F238E27FC236}">
                <a16:creationId xmlns:a16="http://schemas.microsoft.com/office/drawing/2014/main" id="{E99D4047-01CC-66E7-D1C7-E7E0359C41CF}"/>
              </a:ext>
            </a:extLst>
          </p:cNvPr>
          <p:cNvSpPr/>
          <p:nvPr/>
        </p:nvSpPr>
        <p:spPr>
          <a:xfrm>
            <a:off x="-1180200" y="600149"/>
            <a:ext cx="1736700" cy="6723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7321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33A335F-0643-A619-5E81-B3EB91F6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8dcdb1bd_3_0">
            <a:extLst>
              <a:ext uri="{FF2B5EF4-FFF2-40B4-BE49-F238E27FC236}">
                <a16:creationId xmlns:a16="http://schemas.microsoft.com/office/drawing/2014/main" id="{7EB91589-A34B-6D19-6265-57523FCC2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875" y="29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3960"/>
            </a:pPr>
            <a:r>
              <a:rPr lang="en-US" sz="2800" dirty="0"/>
              <a:t>Next Steps</a:t>
            </a:r>
            <a:endParaRPr sz="2800" dirty="0"/>
          </a:p>
        </p:txBody>
      </p:sp>
      <p:sp>
        <p:nvSpPr>
          <p:cNvPr id="126" name="Google Shape;126;g2a28dcdb1bd_3_0">
            <a:extLst>
              <a:ext uri="{FF2B5EF4-FFF2-40B4-BE49-F238E27FC236}">
                <a16:creationId xmlns:a16="http://schemas.microsoft.com/office/drawing/2014/main" id="{8142C43E-DA1C-8AEF-9EAE-7B39EFD1434B}"/>
              </a:ext>
            </a:extLst>
          </p:cNvPr>
          <p:cNvSpPr txBox="1"/>
          <p:nvPr/>
        </p:nvSpPr>
        <p:spPr>
          <a:xfrm>
            <a:off x="856474" y="2043705"/>
            <a:ext cx="9310209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Vik: Create product timeline deck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Neil: Review deck &amp; share requirements.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Antonio: Visit </a:t>
            </a:r>
            <a:r>
              <a:rPr lang="en-US" sz="2400" dirty="0" err="1"/>
              <a:t>SancSoft</a:t>
            </a:r>
            <a:r>
              <a:rPr lang="en-US" sz="2400" dirty="0"/>
              <a:t>; mentor Dustin.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Dustin: Begin carrier board design.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Team: Evaluate existing board for Jetson mods</a:t>
            </a:r>
            <a:endParaRPr sz="2400" i="0" u="none" strike="noStrike" cap="none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4" name="Google Shape;134;g2a28dcdb1bd_3_0">
            <a:extLst>
              <a:ext uri="{FF2B5EF4-FFF2-40B4-BE49-F238E27FC236}">
                <a16:creationId xmlns:a16="http://schemas.microsoft.com/office/drawing/2014/main" id="{389990B0-6E84-477C-6F16-9901A7555067}"/>
              </a:ext>
            </a:extLst>
          </p:cNvPr>
          <p:cNvSpPr/>
          <p:nvPr/>
        </p:nvSpPr>
        <p:spPr>
          <a:xfrm>
            <a:off x="-1180200" y="600149"/>
            <a:ext cx="1736700" cy="6723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3728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92D0B5FD-B04C-6476-BC6F-C563B796C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8dcdb1bd_3_0">
            <a:extLst>
              <a:ext uri="{FF2B5EF4-FFF2-40B4-BE49-F238E27FC236}">
                <a16:creationId xmlns:a16="http://schemas.microsoft.com/office/drawing/2014/main" id="{B5E4D4BB-7335-7709-AB76-960C04EFF3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875" y="29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3960"/>
            </a:pPr>
            <a:r>
              <a:rPr lang="en-US" sz="2800" dirty="0"/>
              <a:t>Hardware &amp; Software Transition Plan</a:t>
            </a:r>
            <a:endParaRPr sz="2800" dirty="0"/>
          </a:p>
        </p:txBody>
      </p:sp>
      <p:sp>
        <p:nvSpPr>
          <p:cNvPr id="126" name="Google Shape;126;g2a28dcdb1bd_3_0">
            <a:extLst>
              <a:ext uri="{FF2B5EF4-FFF2-40B4-BE49-F238E27FC236}">
                <a16:creationId xmlns:a16="http://schemas.microsoft.com/office/drawing/2014/main" id="{75C3F6FC-1B66-8A5E-8268-3C62069F1D1B}"/>
              </a:ext>
            </a:extLst>
          </p:cNvPr>
          <p:cNvSpPr txBox="1"/>
          <p:nvPr/>
        </p:nvSpPr>
        <p:spPr>
          <a:xfrm>
            <a:off x="856474" y="2043705"/>
            <a:ext cx="9310209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Move from Raspberry Pi CM4 → NVIDIA Jetson Nano/Orin.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Move from 5.8Ghz board to 24GHz Sensor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 edge AI behavioral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Integrate power &amp; network architecture.</a:t>
            </a:r>
          </a:p>
        </p:txBody>
      </p:sp>
      <p:sp>
        <p:nvSpPr>
          <p:cNvPr id="134" name="Google Shape;134;g2a28dcdb1bd_3_0">
            <a:extLst>
              <a:ext uri="{FF2B5EF4-FFF2-40B4-BE49-F238E27FC236}">
                <a16:creationId xmlns:a16="http://schemas.microsoft.com/office/drawing/2014/main" id="{07BA83D8-4989-D055-8B40-F910143F418A}"/>
              </a:ext>
            </a:extLst>
          </p:cNvPr>
          <p:cNvSpPr/>
          <p:nvPr/>
        </p:nvSpPr>
        <p:spPr>
          <a:xfrm>
            <a:off x="-1180200" y="600149"/>
            <a:ext cx="1736700" cy="6723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550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7D81C653-CBDC-A45D-580A-B1B20FB2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8dcdb1bd_3_0">
            <a:extLst>
              <a:ext uri="{FF2B5EF4-FFF2-40B4-BE49-F238E27FC236}">
                <a16:creationId xmlns:a16="http://schemas.microsoft.com/office/drawing/2014/main" id="{76D32E69-7A8A-4D66-F250-5DC121D81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875" y="29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3960"/>
            </a:pPr>
            <a:r>
              <a:rPr lang="en-US" sz="2800" dirty="0"/>
              <a:t>Cell-Guardian 2.0 Goals</a:t>
            </a:r>
            <a:endParaRPr sz="2800" dirty="0"/>
          </a:p>
        </p:txBody>
      </p:sp>
      <p:sp>
        <p:nvSpPr>
          <p:cNvPr id="126" name="Google Shape;126;g2a28dcdb1bd_3_0">
            <a:extLst>
              <a:ext uri="{FF2B5EF4-FFF2-40B4-BE49-F238E27FC236}">
                <a16:creationId xmlns:a16="http://schemas.microsoft.com/office/drawing/2014/main" id="{731244C8-2A3A-B372-0234-E7EC9E1DCD26}"/>
              </a:ext>
            </a:extLst>
          </p:cNvPr>
          <p:cNvSpPr txBox="1"/>
          <p:nvPr/>
        </p:nvSpPr>
        <p:spPr>
          <a:xfrm>
            <a:off x="737602" y="1469396"/>
            <a:ext cx="8132077" cy="1959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Better 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Jetson AI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Enhanced cooling &amp; waterproofing.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Continue Cell-Guardian 1.0 sales during R&amp;D.</a:t>
            </a:r>
          </a:p>
        </p:txBody>
      </p:sp>
      <p:sp>
        <p:nvSpPr>
          <p:cNvPr id="134" name="Google Shape;134;g2a28dcdb1bd_3_0">
            <a:extLst>
              <a:ext uri="{FF2B5EF4-FFF2-40B4-BE49-F238E27FC236}">
                <a16:creationId xmlns:a16="http://schemas.microsoft.com/office/drawing/2014/main" id="{7C679160-9C1E-19F9-EFFB-9AE885312D5B}"/>
              </a:ext>
            </a:extLst>
          </p:cNvPr>
          <p:cNvSpPr/>
          <p:nvPr/>
        </p:nvSpPr>
        <p:spPr>
          <a:xfrm>
            <a:off x="-1180200" y="600149"/>
            <a:ext cx="1736700" cy="6723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9">
            <a:extLst>
              <a:ext uri="{FF2B5EF4-FFF2-40B4-BE49-F238E27FC236}">
                <a16:creationId xmlns:a16="http://schemas.microsoft.com/office/drawing/2014/main" id="{D8E4134F-EDD5-43C3-3B06-A96D86262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422" y="3429000"/>
            <a:ext cx="268287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395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EA3339F7-CF15-A7B7-6F4F-E6B794A2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8dcdb1bd_3_0">
            <a:extLst>
              <a:ext uri="{FF2B5EF4-FFF2-40B4-BE49-F238E27FC236}">
                <a16:creationId xmlns:a16="http://schemas.microsoft.com/office/drawing/2014/main" id="{FEC3B7B6-6BD2-2302-7DE5-8E093EC05B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875" y="29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3960"/>
            </a:pPr>
            <a:r>
              <a:rPr lang="en-US" sz="2800" dirty="0"/>
              <a:t>Silver Guardian 2.0 Goals</a:t>
            </a:r>
            <a:endParaRPr sz="2800" dirty="0"/>
          </a:p>
        </p:txBody>
      </p:sp>
      <p:sp>
        <p:nvSpPr>
          <p:cNvPr id="126" name="Google Shape;126;g2a28dcdb1bd_3_0">
            <a:extLst>
              <a:ext uri="{FF2B5EF4-FFF2-40B4-BE49-F238E27FC236}">
                <a16:creationId xmlns:a16="http://schemas.microsoft.com/office/drawing/2014/main" id="{D6A2EFBA-0292-E880-1278-63AE7CEDC880}"/>
              </a:ext>
            </a:extLst>
          </p:cNvPr>
          <p:cNvSpPr txBox="1"/>
          <p:nvPr/>
        </p:nvSpPr>
        <p:spPr>
          <a:xfrm>
            <a:off x="792467" y="1286540"/>
            <a:ext cx="6175262" cy="185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Compact form factor &amp; better aesthetics.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Jetson AI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Pan/Tilt motor for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Better Silver-Guardian App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Continue Silver 1.0 sales during R&amp;D.</a:t>
            </a:r>
          </a:p>
        </p:txBody>
      </p:sp>
      <p:sp>
        <p:nvSpPr>
          <p:cNvPr id="134" name="Google Shape;134;g2a28dcdb1bd_3_0">
            <a:extLst>
              <a:ext uri="{FF2B5EF4-FFF2-40B4-BE49-F238E27FC236}">
                <a16:creationId xmlns:a16="http://schemas.microsoft.com/office/drawing/2014/main" id="{C742EEB7-6FF1-B2EF-947A-E736A26E7110}"/>
              </a:ext>
            </a:extLst>
          </p:cNvPr>
          <p:cNvSpPr/>
          <p:nvPr/>
        </p:nvSpPr>
        <p:spPr>
          <a:xfrm>
            <a:off x="-1180200" y="600149"/>
            <a:ext cx="1736700" cy="6723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3D864C-B8F6-9244-59E8-E464B3B48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919" y="3631858"/>
            <a:ext cx="1313349" cy="19700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A555A-88DB-3127-87DD-BEE71AD8D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002" y="3631858"/>
            <a:ext cx="1477518" cy="1970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53C348-4982-DBC2-017B-9DE9FB014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010" y="3530186"/>
            <a:ext cx="3194234" cy="2131153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A219A374-E7C7-9EE4-0976-05E672D59362}"/>
              </a:ext>
            </a:extLst>
          </p:cNvPr>
          <p:cNvSpPr/>
          <p:nvPr/>
        </p:nvSpPr>
        <p:spPr>
          <a:xfrm>
            <a:off x="3621024" y="4454818"/>
            <a:ext cx="1133856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E41DEA3-4779-BE5B-E361-8F813BE879A5}"/>
              </a:ext>
            </a:extLst>
          </p:cNvPr>
          <p:cNvSpPr/>
          <p:nvPr/>
        </p:nvSpPr>
        <p:spPr>
          <a:xfrm>
            <a:off x="6561583" y="4358018"/>
            <a:ext cx="1133856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03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8F1A52C2-BF05-6B57-C50B-86105DC9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8dcdb1bd_3_0">
            <a:extLst>
              <a:ext uri="{FF2B5EF4-FFF2-40B4-BE49-F238E27FC236}">
                <a16:creationId xmlns:a16="http://schemas.microsoft.com/office/drawing/2014/main" id="{CDC2F757-B10B-C30B-FDB6-E587922AD5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875" y="29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3960"/>
            </a:pPr>
            <a:r>
              <a:rPr lang="en-US" sz="2800" dirty="0"/>
              <a:t>Immediate Deliverables</a:t>
            </a:r>
            <a:endParaRPr sz="2800" dirty="0"/>
          </a:p>
        </p:txBody>
      </p:sp>
      <p:sp>
        <p:nvSpPr>
          <p:cNvPr id="134" name="Google Shape;134;g2a28dcdb1bd_3_0">
            <a:extLst>
              <a:ext uri="{FF2B5EF4-FFF2-40B4-BE49-F238E27FC236}">
                <a16:creationId xmlns:a16="http://schemas.microsoft.com/office/drawing/2014/main" id="{98E48ECE-97F4-1907-D4A4-A80E7F5ECC7B}"/>
              </a:ext>
            </a:extLst>
          </p:cNvPr>
          <p:cNvSpPr/>
          <p:nvPr/>
        </p:nvSpPr>
        <p:spPr>
          <a:xfrm>
            <a:off x="-1180200" y="600149"/>
            <a:ext cx="1736700" cy="6723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56484-B359-7FC2-D15B-8CFF0EB76623}"/>
              </a:ext>
            </a:extLst>
          </p:cNvPr>
          <p:cNvSpPr txBox="1"/>
          <p:nvPr/>
        </p:nvSpPr>
        <p:spPr>
          <a:xfrm>
            <a:off x="911352" y="1313137"/>
            <a:ext cx="103692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Vik: Timeline deck 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Varun: </a:t>
            </a:r>
          </a:p>
          <a:p>
            <a:pPr marL="457200" lvl="5" indent="-457200">
              <a:buFont typeface="+mj-lt"/>
              <a:buAutoNum type="arabicPeriod"/>
            </a:pPr>
            <a:r>
              <a:rPr lang="en-US" sz="2400" dirty="0"/>
              <a:t>Review Q4 2025 release and Q1 2026</a:t>
            </a:r>
          </a:p>
          <a:p>
            <a:pPr marL="457200" lvl="5" indent="-457200">
              <a:buFont typeface="+mj-lt"/>
              <a:buAutoNum type="arabicPeriod"/>
            </a:pPr>
            <a:r>
              <a:rPr lang="en-US" sz="2400" dirty="0"/>
              <a:t>All PEN TESTING CODE to be secured from </a:t>
            </a:r>
            <a:r>
              <a:rPr lang="en-US" sz="2400" dirty="0" err="1"/>
              <a:t>SancSoft</a:t>
            </a:r>
            <a:r>
              <a:rPr lang="en-US" sz="2400" dirty="0"/>
              <a:t> – This was built for our team and will need to be run for Silver-Guardian 2.0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Dave: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Issues for Cell-Guardian &amp; Silver-Guardian– Demo and Live 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Deva: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Fix issues identified by Dave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Limit use of </a:t>
            </a:r>
            <a:r>
              <a:rPr lang="en-US" sz="2400" dirty="0" err="1"/>
              <a:t>SancSoft</a:t>
            </a:r>
            <a:r>
              <a:rPr lang="en-US" sz="2400" dirty="0"/>
              <a:t> help unless </a:t>
            </a:r>
            <a:r>
              <a:rPr lang="en-US" sz="2400" dirty="0" err="1"/>
              <a:t>neccessary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Secure Silver-Guardian App and transfer to Brahm India for Silver-Guardian 2.0 App upgrade</a:t>
            </a:r>
          </a:p>
        </p:txBody>
      </p:sp>
    </p:spTree>
    <p:extLst>
      <p:ext uri="{BB962C8B-B14F-4D97-AF65-F5344CB8AC3E}">
        <p14:creationId xmlns:p14="http://schemas.microsoft.com/office/powerpoint/2010/main" val="1927152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EAFE4D5B-0EFC-A388-A35B-FE51399C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8dcdb1bd_3_0">
            <a:extLst>
              <a:ext uri="{FF2B5EF4-FFF2-40B4-BE49-F238E27FC236}">
                <a16:creationId xmlns:a16="http://schemas.microsoft.com/office/drawing/2014/main" id="{AF0E135C-4336-465B-C24D-8FCB8A162D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875" y="29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3960"/>
            </a:pPr>
            <a:r>
              <a:rPr lang="en-US" sz="2800" dirty="0"/>
              <a:t>Summary &amp; Alignment</a:t>
            </a:r>
            <a:endParaRPr sz="2800" dirty="0"/>
          </a:p>
        </p:txBody>
      </p:sp>
      <p:sp>
        <p:nvSpPr>
          <p:cNvPr id="126" name="Google Shape;126;g2a28dcdb1bd_3_0">
            <a:extLst>
              <a:ext uri="{FF2B5EF4-FFF2-40B4-BE49-F238E27FC236}">
                <a16:creationId xmlns:a16="http://schemas.microsoft.com/office/drawing/2014/main" id="{C2F56BFF-1CB4-7FD1-2F1D-2E98F06DF8FB}"/>
              </a:ext>
            </a:extLst>
          </p:cNvPr>
          <p:cNvSpPr txBox="1"/>
          <p:nvPr/>
        </p:nvSpPr>
        <p:spPr>
          <a:xfrm>
            <a:off x="856474" y="2043705"/>
            <a:ext cx="9310209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Clear responsibilities, parallel progress.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Jetson aligns with Companion AI roadmap.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Dual focus: Revenue (Silver 1.0, Cell 1.0) + Innovation (Silver 2.0, Cell 2.0).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Neo-Guardian IRB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Dental sensor integration and vital-sign pilots.</a:t>
            </a:r>
          </a:p>
          <a:p>
            <a:endParaRPr lang="en-US" sz="2400" dirty="0"/>
          </a:p>
        </p:txBody>
      </p:sp>
      <p:sp>
        <p:nvSpPr>
          <p:cNvPr id="134" name="Google Shape;134;g2a28dcdb1bd_3_0">
            <a:extLst>
              <a:ext uri="{FF2B5EF4-FFF2-40B4-BE49-F238E27FC236}">
                <a16:creationId xmlns:a16="http://schemas.microsoft.com/office/drawing/2014/main" id="{F07F84BA-E7E1-A7D5-35D0-29836C8D2F8B}"/>
              </a:ext>
            </a:extLst>
          </p:cNvPr>
          <p:cNvSpPr/>
          <p:nvPr/>
        </p:nvSpPr>
        <p:spPr>
          <a:xfrm>
            <a:off x="-1180200" y="600149"/>
            <a:ext cx="1736700" cy="6723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3338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c7e4fef64_5_180"/>
          <p:cNvSpPr txBox="1">
            <a:spLocks noGrp="1"/>
          </p:cNvSpPr>
          <p:nvPr>
            <p:ph type="title"/>
          </p:nvPr>
        </p:nvSpPr>
        <p:spPr>
          <a:xfrm>
            <a:off x="7556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99D2"/>
              </a:buClr>
              <a:buSzPts val="3400"/>
              <a:buFont typeface="Space Grotesk"/>
              <a:buNone/>
            </a:pPr>
            <a:r>
              <a:rPr lang="en-US" sz="4900">
                <a:solidFill>
                  <a:srgbClr val="4899D2"/>
                </a:solidFill>
              </a:rPr>
              <a:t>Thank you.</a:t>
            </a:r>
            <a:endParaRPr sz="4900"/>
          </a:p>
        </p:txBody>
      </p:sp>
      <p:sp>
        <p:nvSpPr>
          <p:cNvPr id="412" name="Google Shape;412;g1ec7e4fef64_5_180"/>
          <p:cNvSpPr txBox="1"/>
          <p:nvPr/>
        </p:nvSpPr>
        <p:spPr>
          <a:xfrm>
            <a:off x="3227300" y="2979175"/>
            <a:ext cx="5572200" cy="3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CONTACT</a:t>
            </a:r>
            <a:endParaRPr sz="1700" b="0" i="0" u="none" strike="noStrike" cap="none">
              <a:solidFill>
                <a:srgbClr val="000000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</a:pPr>
            <a:endParaRPr sz="700" b="1" i="0" u="none" strike="noStrike" cap="non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Vik Ramprakash</a:t>
            </a:r>
            <a:endParaRPr sz="2000" b="0" i="0" u="none" strike="noStrike" cap="non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CEO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E: </a:t>
            </a:r>
            <a:r>
              <a:rPr lang="en-US" sz="2000" b="0" i="0" u="sng" strike="noStrike" cap="none">
                <a:solidFill>
                  <a:srgbClr val="159CD7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Vik.Ramprakash@Rahmsd.com</a:t>
            </a:r>
            <a:r>
              <a:rPr lang="en-US" sz="2000" b="0" i="0" u="sng" strike="noStrike" cap="none">
                <a:solidFill>
                  <a:srgbClr val="159CD7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sz="1400" b="0" i="0" u="none" strike="noStrike" cap="none">
              <a:solidFill>
                <a:srgbClr val="159CD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4899D2"/>
              </a:buClr>
              <a:buSzPts val="2000"/>
              <a:buFont typeface="Space Grotesk"/>
              <a:buNone/>
            </a:pPr>
            <a:endParaRPr sz="2000" b="0" i="0" u="sng" strike="noStrike" cap="none">
              <a:solidFill>
                <a:srgbClr val="0000FF"/>
              </a:solidFill>
              <a:latin typeface="Space Grotesk"/>
              <a:ea typeface="Space Grotesk"/>
              <a:cs typeface="Space Grotesk"/>
              <a:sym typeface="Space Grotesk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4899D2"/>
              </a:buClr>
              <a:buSzPts val="2000"/>
              <a:buFont typeface="Space Grotesk"/>
              <a:buNone/>
            </a:pPr>
            <a:endParaRPr sz="2000" b="0" i="0" u="sng" strike="noStrike" cap="none">
              <a:solidFill>
                <a:srgbClr val="0000FF"/>
              </a:solidFill>
              <a:latin typeface="Space Grotesk"/>
              <a:ea typeface="Space Grotesk"/>
              <a:cs typeface="Space Grotesk"/>
              <a:sym typeface="Space Grotesk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4899D2"/>
              </a:buClr>
              <a:buSzPts val="2000"/>
              <a:buFont typeface="Space Grotesk"/>
              <a:buNone/>
            </a:pPr>
            <a:endParaRPr sz="2000" b="0" i="0" u="sng" strike="noStrike" cap="none">
              <a:solidFill>
                <a:srgbClr val="0000FF"/>
              </a:solidFill>
              <a:latin typeface="Space Grotesk"/>
              <a:ea typeface="Space Grotesk"/>
              <a:cs typeface="Space Grotesk"/>
              <a:sym typeface="Space Grotesk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4899D2"/>
              </a:buClr>
              <a:buSzPts val="2000"/>
              <a:buFont typeface="Space Grotesk"/>
              <a:buNone/>
            </a:pPr>
            <a:endParaRPr sz="2000" b="0" i="0" u="sng" strike="noStrike" cap="none">
              <a:solidFill>
                <a:srgbClr val="0000FF"/>
              </a:solidFill>
              <a:latin typeface="Space Grotesk"/>
              <a:ea typeface="Space Grotesk"/>
              <a:cs typeface="Space Grotesk"/>
              <a:sym typeface="Space Grotesk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4899D2"/>
              </a:buClr>
              <a:buSzPts val="2000"/>
              <a:buFont typeface="Space Grotesk"/>
              <a:buNone/>
            </a:pPr>
            <a:endParaRPr sz="2000" b="0" i="0" u="sng" strike="noStrike" cap="none">
              <a:solidFill>
                <a:srgbClr val="0000FF"/>
              </a:solidFill>
              <a:latin typeface="Space Grotesk"/>
              <a:ea typeface="Space Grotesk"/>
              <a:cs typeface="Space Grotesk"/>
              <a:sym typeface="Space Grotesk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Space Grotesk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www.rahmsd.com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g1ec7e4fef64_5_18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92191" y="4927180"/>
            <a:ext cx="1042420" cy="1042420"/>
          </a:xfrm>
          <a:prstGeom prst="rect">
            <a:avLst/>
          </a:prstGeom>
          <a:noFill/>
          <a:ln>
            <a:noFill/>
          </a:ln>
          <a:effectLst>
            <a:reflection stA="7880" endPos="40000" fadeDir="5400012" sy="-100000" algn="bl" rotWithShape="0"/>
          </a:effectLst>
        </p:spPr>
      </p:pic>
      <p:sp>
        <p:nvSpPr>
          <p:cNvPr id="414" name="Google Shape;414;g1ec7e4fef64_5_180"/>
          <p:cNvSpPr/>
          <p:nvPr/>
        </p:nvSpPr>
        <p:spPr>
          <a:xfrm>
            <a:off x="-958975" y="643064"/>
            <a:ext cx="1736700" cy="769800"/>
          </a:xfrm>
          <a:prstGeom prst="roundRect">
            <a:avLst>
              <a:gd name="adj" fmla="val 19697"/>
            </a:avLst>
          </a:prstGeom>
          <a:solidFill>
            <a:srgbClr val="159CD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427</Words>
  <Application>Microsoft Office PowerPoint</Application>
  <PresentationFormat>Widescreen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Arial</vt:lpstr>
      <vt:lpstr>Space Grotesk Medium</vt:lpstr>
      <vt:lpstr>Space Grotesk</vt:lpstr>
      <vt:lpstr>Office Theme</vt:lpstr>
      <vt:lpstr>PowerPoint Presentation</vt:lpstr>
      <vt:lpstr>Meeting Overview</vt:lpstr>
      <vt:lpstr>Hardware goals</vt:lpstr>
      <vt:lpstr>Carrier Board Design Team</vt:lpstr>
      <vt:lpstr>Next Steps</vt:lpstr>
      <vt:lpstr>Hardware &amp; Software Transition Plan</vt:lpstr>
      <vt:lpstr>Cell-Guardian 2.0 Goals</vt:lpstr>
      <vt:lpstr>Silver Guardian 2.0 Goals</vt:lpstr>
      <vt:lpstr>Immediate Deliverables</vt:lpstr>
      <vt:lpstr>Summary &amp; Alignment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Vikram Ramprakash</dc:creator>
  <cp:lastModifiedBy>Vik Ramprakash</cp:lastModifiedBy>
  <cp:revision>8</cp:revision>
  <dcterms:modified xsi:type="dcterms:W3CDTF">2025-10-25T16:52:26Z</dcterms:modified>
</cp:coreProperties>
</file>